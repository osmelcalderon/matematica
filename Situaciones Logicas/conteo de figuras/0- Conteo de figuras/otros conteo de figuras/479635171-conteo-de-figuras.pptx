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AE19E9-A266-4821-85A5-690AF49175A6}" type="datetimeFigureOut">
              <a:rPr lang="es-ES" smtClean="0"/>
              <a:t>18/06/2020</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8AFACE-67A2-4E05-AB40-5DAE0B903843}" type="slidenum">
              <a:rPr lang="es-ES" smtClean="0"/>
              <a:t>‹Nº›</a:t>
            </a:fld>
            <a:endParaRPr lang="es-ES"/>
          </a:p>
        </p:txBody>
      </p:sp>
    </p:spTree>
    <p:extLst>
      <p:ext uri="{BB962C8B-B14F-4D97-AF65-F5344CB8AC3E}">
        <p14:creationId xmlns:p14="http://schemas.microsoft.com/office/powerpoint/2010/main" val="2442031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C68AFACE-67A2-4E05-AB40-5DAE0B903843}" type="slidenum">
              <a:rPr lang="es-ES" smtClean="0"/>
              <a:t>2</a:t>
            </a:fld>
            <a:endParaRPr lang="es-ES"/>
          </a:p>
        </p:txBody>
      </p:sp>
    </p:spTree>
    <p:extLst>
      <p:ext uri="{BB962C8B-B14F-4D97-AF65-F5344CB8AC3E}">
        <p14:creationId xmlns:p14="http://schemas.microsoft.com/office/powerpoint/2010/main" val="1283697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2">
        <a:schemeClr val="bg2"/>
      </p:bgRef>
    </p:bg>
    <p:spTree>
      <p:nvGrpSpPr>
        <p:cNvPr id="1" name=""/>
        <p:cNvGrpSpPr/>
        <p:nvPr/>
      </p:nvGrpSpPr>
      <p:grpSpPr>
        <a:xfrm>
          <a:off x="0" y="0"/>
          <a:ext cx="0" cy="0"/>
          <a:chOff x="0" y="0"/>
          <a:chExt cx="0" cy="0"/>
        </a:xfrm>
      </p:grpSpPr>
      <p:sp>
        <p:nvSpPr>
          <p:cNvPr id="7" name="6 Forma libre"/>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7 Forma libre"/>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8 Título"/>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29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19" name="18 Marcador de pie de página"/>
          <p:cNvSpPr>
            <a:spLocks noGrp="1"/>
          </p:cNvSpPr>
          <p:nvPr>
            <p:ph type="ftr" sz="quarter" idx="11"/>
          </p:nvPr>
        </p:nvSpPr>
        <p:spPr/>
        <p:txBody>
          <a:bodyPr/>
          <a:lstStyle/>
          <a:p>
            <a:endParaRPr lang="es-ES"/>
          </a:p>
        </p:txBody>
      </p:sp>
      <p:sp>
        <p:nvSpPr>
          <p:cNvPr id="27" name="26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l">
              <a:defRPr/>
            </a:lvl1p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2"/>
      </p:bgRef>
    </p:bg>
    <p:spTree>
      <p:nvGrpSpPr>
        <p:cNvPr id="1" name=""/>
        <p:cNvGrpSpPr/>
        <p:nvPr/>
      </p:nvGrpSpPr>
      <p:grpSpPr>
        <a:xfrm>
          <a:off x="0" y="0"/>
          <a:ext cx="0" cy="0"/>
          <a:chOff x="0" y="0"/>
          <a:chExt cx="0" cy="0"/>
        </a:xfrm>
      </p:grpSpPr>
      <p:sp>
        <p:nvSpPr>
          <p:cNvPr id="7" name="6 Forma libre"/>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8 Forma libre"/>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1 Título"/>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1143000"/>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320"/>
            <a:ext cx="7470648" cy="1143000"/>
          </a:xfrm>
        </p:spPr>
        <p:txBody>
          <a:bodyPr anchor="ctr"/>
          <a:lstStyle>
            <a:lvl1pPr algn="l">
              <a:defRPr sz="4600"/>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8" name="7 Marcador de número de diapositiva"/>
          <p:cNvSpPr>
            <a:spLocks noGrp="1"/>
          </p:cNvSpPr>
          <p:nvPr>
            <p:ph type="sldNum" sz="quarter" idx="11"/>
          </p:nvPr>
        </p:nvSpPr>
        <p:spPr/>
        <p:txBody>
          <a:bodyPr/>
          <a:lstStyle/>
          <a:p>
            <a:fld id="{332FEE24-73C0-4870-ADC8-314F96C3C32C}" type="slidenum">
              <a:rPr lang="es-ES" smtClean="0"/>
              <a:t>‹Nº›</a:t>
            </a:fld>
            <a:endParaRPr lang="es-ES"/>
          </a:p>
        </p:txBody>
      </p:sp>
      <p:sp>
        <p:nvSpPr>
          <p:cNvPr id="9" name="8 Marcador de pie de página"/>
          <p:cNvSpPr>
            <a:spLocks noGrp="1"/>
          </p:cNvSpPr>
          <p:nvPr>
            <p:ph type="ftr" sz="quarter" idx="12"/>
          </p:nvPr>
        </p:nvSpPr>
        <p:spPr/>
        <p:txBody>
          <a:bodyPr/>
          <a:lstStyle/>
          <a:p>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a:xfrm>
            <a:off x="8156448" y="6422064"/>
            <a:ext cx="762000" cy="365125"/>
          </a:xfrm>
        </p:spPr>
        <p:txBody>
          <a:bodyPr/>
          <a:lstStyle/>
          <a:p>
            <a:fld id="{332FEE24-73C0-4870-ADC8-314F96C3C32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a:xfrm>
            <a:off x="457200" y="6422064"/>
            <a:ext cx="2133600" cy="365125"/>
          </a:xfrm>
        </p:spPr>
        <p:txBody>
          <a:bodyPr/>
          <a:lstStyle/>
          <a:p>
            <a:fld id="{1805C299-8007-43C9-B59F-6EF64BD503F7}" type="datetimeFigureOut">
              <a:rPr lang="es-ES" smtClean="0"/>
              <a:t>18/06/2020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1805C299-8007-43C9-B59F-6EF64BD503F7}" type="datetimeFigureOut">
              <a:rPr lang="es-ES" smtClean="0"/>
              <a:t>18/06/2020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332FEE24-73C0-4870-ADC8-314F96C3C32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11 Forma libre"/>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15 Forma libre"/>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8 Marcador de título"/>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1805C299-8007-43C9-B59F-6EF64BD503F7}" type="datetimeFigureOut">
              <a:rPr lang="es-ES" smtClean="0"/>
              <a:t>18/06/2020</a:t>
            </a:fld>
            <a:endParaRPr lang="es-ES"/>
          </a:p>
        </p:txBody>
      </p:sp>
      <p:sp>
        <p:nvSpPr>
          <p:cNvPr id="22" name="21 Marcador de pie de página"/>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s-ES"/>
          </a:p>
        </p:txBody>
      </p:sp>
      <p:sp>
        <p:nvSpPr>
          <p:cNvPr id="18" name="17 Marcador de número de diapositiva"/>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332FEE24-73C0-4870-ADC8-314F96C3C32C}" type="slidenum">
              <a:rPr lang="es-ES" smtClean="0"/>
              <a:t>‹Nº›</a:t>
            </a:fld>
            <a:endParaRPr lang="es-E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2" cstate="print">
            <a:duotone>
              <a:prstClr val="black"/>
              <a:schemeClr val="accent6">
                <a:tint val="45000"/>
                <a:satMod val="400000"/>
              </a:schemeClr>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t="12726" b="13492"/>
          <a:stretch/>
        </p:blipFill>
        <p:spPr bwMode="auto">
          <a:xfrm>
            <a:off x="4515512" y="404664"/>
            <a:ext cx="4232951"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ctrTitle"/>
          </p:nvPr>
        </p:nvSpPr>
        <p:spPr>
          <a:xfrm>
            <a:off x="23129" y="836712"/>
            <a:ext cx="4492384" cy="1748942"/>
          </a:xfrm>
        </p:spPr>
        <p:txBody>
          <a:bodyPr>
            <a:normAutofit fontScale="90000"/>
          </a:bodyPr>
          <a:lstStyle/>
          <a:p>
            <a:pPr algn="ctr"/>
            <a:r>
              <a:rPr lang="es-ES" sz="5400" dirty="0" smtClean="0">
                <a:latin typeface="Bodoni MT Black" pitchFamily="18" charset="0"/>
              </a:rPr>
              <a:t>TOPOLOGÍA, </a:t>
            </a:r>
            <a:r>
              <a:rPr lang="es-ES" sz="5400" dirty="0">
                <a:latin typeface="Bodoni MT Black" pitchFamily="18" charset="0"/>
              </a:rPr>
              <a:t>CONTEO </a:t>
            </a:r>
            <a:r>
              <a:rPr lang="es-ES" sz="5400" dirty="0">
                <a:latin typeface="Bodoni MT Black" pitchFamily="18" charset="0"/>
              </a:rPr>
              <a:t>DE FIGURAS</a:t>
            </a:r>
          </a:p>
        </p:txBody>
      </p:sp>
      <p:sp>
        <p:nvSpPr>
          <p:cNvPr id="3" name="2 Subtítulo"/>
          <p:cNvSpPr>
            <a:spLocks noGrp="1"/>
          </p:cNvSpPr>
          <p:nvPr>
            <p:ph type="subTitle" idx="1"/>
          </p:nvPr>
        </p:nvSpPr>
        <p:spPr>
          <a:xfrm>
            <a:off x="-17366" y="3422640"/>
            <a:ext cx="4536504" cy="588492"/>
          </a:xfrm>
        </p:spPr>
        <p:txBody>
          <a:bodyPr>
            <a:normAutofit fontScale="92500" lnSpcReduction="20000"/>
          </a:bodyPr>
          <a:lstStyle/>
          <a:p>
            <a:pPr algn="ctr"/>
            <a:r>
              <a:rPr lang="es-ES" sz="2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odoni MT Black" pitchFamily="18" charset="0"/>
              </a:rPr>
              <a:t>RAZONAMIENTO MATEMÁTICO </a:t>
            </a:r>
            <a:endParaRPr lang="es-E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odoni MT Black" pitchFamily="18" charset="0"/>
            </a:endParaRPr>
          </a:p>
        </p:txBody>
      </p:sp>
      <p:sp>
        <p:nvSpPr>
          <p:cNvPr id="4" name="3 Rectángulo"/>
          <p:cNvSpPr/>
          <p:nvPr/>
        </p:nvSpPr>
        <p:spPr>
          <a:xfrm>
            <a:off x="-20991" y="3717032"/>
            <a:ext cx="4536504" cy="2304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glow" dir="tl">
                <a:rot lat="0" lon="0" rev="5400000"/>
              </a:lightRig>
            </a:scene3d>
            <a:sp3d contourW="12700">
              <a:bevelT w="25400" h="25400"/>
              <a:contourClr>
                <a:schemeClr val="accent6">
                  <a:shade val="73000"/>
                </a:schemeClr>
              </a:contourClr>
            </a:sp3d>
          </a:bodyPr>
          <a:lstStyle/>
          <a:p>
            <a:pPr algn="ctr"/>
            <a:r>
              <a:rPr lang="es-ES"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DOCENTE: RICHARD FERNANDEZ</a:t>
            </a:r>
          </a:p>
          <a:p>
            <a:pPr algn="ctr"/>
            <a:r>
              <a:rPr lang="es-ES"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ESTUDIANTE LUNA CHOQUE OSHIN GRACIELA</a:t>
            </a:r>
          </a:p>
          <a:p>
            <a:pPr algn="ctr"/>
            <a:r>
              <a:rPr lang="es-ES"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AÑO: 20202</a:t>
            </a:r>
            <a:endParaRPr lang="es-E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extLst>
      <p:ext uri="{BB962C8B-B14F-4D97-AF65-F5344CB8AC3E}">
        <p14:creationId xmlns:p14="http://schemas.microsoft.com/office/powerpoint/2010/main" val="46309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260648"/>
            <a:ext cx="7467600" cy="1143000"/>
          </a:xfrm>
        </p:spPr>
        <p:txBody>
          <a:bodyPr>
            <a:normAutofit fontScale="90000"/>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s-ES"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odoni MT Black" pitchFamily="18" charset="0"/>
              </a:rPr>
              <a:t>MÉTODOS  DE  </a:t>
            </a:r>
            <a:r>
              <a:rPr lang="es-ES"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odoni MT Black" pitchFamily="18" charset="0"/>
              </a:rPr>
              <a:t>CONTEO</a:t>
            </a:r>
            <a:endParaRPr lang="es-ES"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odoni MT Black" pitchFamily="18" charset="0"/>
            </a:endParaRPr>
          </a:p>
        </p:txBody>
      </p:sp>
      <p:sp>
        <p:nvSpPr>
          <p:cNvPr id="5" name="4 Rectángulo"/>
          <p:cNvSpPr/>
          <p:nvPr/>
        </p:nvSpPr>
        <p:spPr>
          <a:xfrm>
            <a:off x="971601" y="1374496"/>
            <a:ext cx="7128792" cy="1200329"/>
          </a:xfrm>
          <a:prstGeom prst="rect">
            <a:avLst/>
          </a:prstGeom>
        </p:spPr>
        <p:txBody>
          <a:bodyPr wrap="square">
            <a:spAutoFit/>
          </a:bodyPr>
          <a:lstStyle/>
          <a:p>
            <a:pPr algn="just"/>
            <a:r>
              <a:rPr lang="es-ES" dirty="0" smtClean="0">
                <a:solidFill>
                  <a:schemeClr val="accent6"/>
                </a:solidFill>
              </a:rPr>
              <a:t>MECANISMO QUE CONSISTE EN DETERMINAR LA MÁXIMA CANTIDAD DE FIGURAS DE CIERTO TIPO, QUE SE ENCUENTRAN PRESENTES EN UNA FIGURA DADA.</a:t>
            </a:r>
          </a:p>
          <a:p>
            <a:pPr algn="just"/>
            <a:endParaRPr lang="es-ES" dirty="0">
              <a:solidFill>
                <a:schemeClr val="accent6"/>
              </a:solidFill>
            </a:endParaRPr>
          </a:p>
        </p:txBody>
      </p:sp>
      <p:sp>
        <p:nvSpPr>
          <p:cNvPr id="6" name="5 Rectángulo"/>
          <p:cNvSpPr/>
          <p:nvPr/>
        </p:nvSpPr>
        <p:spPr>
          <a:xfrm>
            <a:off x="971601" y="2547126"/>
            <a:ext cx="7128792" cy="400110"/>
          </a:xfrm>
          <a:prstGeom prst="rect">
            <a:avLst/>
          </a:prstGeom>
        </p:spPr>
        <p:txBody>
          <a:bodyPr wrap="square">
            <a:spAutoFit/>
          </a:bodyPr>
          <a:lstStyle/>
          <a:p>
            <a:r>
              <a:rPr lang="pt-BR" sz="2000" b="1" dirty="0" smtClean="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rPr>
              <a:t>CONTEO DIRECTO: (MÉTODO DE SCHÖENK)</a:t>
            </a:r>
            <a:endParaRPr lang="es-ES" sz="20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endParaRPr>
          </a:p>
        </p:txBody>
      </p:sp>
      <p:sp>
        <p:nvSpPr>
          <p:cNvPr id="7" name="6 Rectángulo"/>
          <p:cNvSpPr/>
          <p:nvPr/>
        </p:nvSpPr>
        <p:spPr>
          <a:xfrm>
            <a:off x="971600" y="3068960"/>
            <a:ext cx="7128792" cy="1754326"/>
          </a:xfrm>
          <a:prstGeom prst="rect">
            <a:avLst/>
          </a:prstGeom>
        </p:spPr>
        <p:txBody>
          <a:bodyPr wrap="square">
            <a:spAutoFit/>
          </a:bodyPr>
          <a:lstStyle/>
          <a:p>
            <a:pPr algn="just"/>
            <a:r>
              <a:rPr lang="es-ES" dirty="0" smtClean="0">
                <a:solidFill>
                  <a:schemeClr val="accent6"/>
                </a:solidFill>
              </a:rPr>
              <a:t>CONSISTE EN ASIGNAR NÚMEROS Y/O LETRAS A TODAS LAS FIGURAS SIMPLES, POSTERIORMENTE SE PROCEDE AL CONTEO CRECIENTE Y ORDENADO, DE FIGURAS DE 1 NÚMERO; AL UNIR 2 NÚMEROS, AL UNIR 3 NÚMEROS,... ETC. ASÍ, POR EJEMPLO, ¿CUÁNTOS CUADRILÁTEROS HAY EN LA FIGURA?</a:t>
            </a:r>
            <a:endParaRPr lang="es-ES" dirty="0">
              <a:solidFill>
                <a:schemeClr val="accent6"/>
              </a:solidFill>
            </a:endParaRPr>
          </a:p>
        </p:txBody>
      </p:sp>
      <p:pic>
        <p:nvPicPr>
          <p:cNvPr id="1026" name="Picture 2"/>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547664" y="4746229"/>
            <a:ext cx="1943051" cy="174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descr="C:\Users\user\Desktop\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803" y="4633064"/>
            <a:ext cx="3600400" cy="2019300"/>
          </a:xfrm>
          <a:prstGeom prst="rect">
            <a:avLst/>
          </a:prstGeom>
          <a:noFill/>
          <a:extLst>
            <a:ext uri="{909E8E84-426E-40DD-AFC4-6F175D3DCCD1}">
              <a14:hiddenFill xmlns:a14="http://schemas.microsoft.com/office/drawing/2010/main">
                <a:solidFill>
                  <a:srgbClr val="FFFFFF"/>
                </a:solidFill>
              </a14:hiddenFill>
            </a:ext>
          </a:extLst>
        </p:spPr>
      </p:pic>
      <p:sp>
        <p:nvSpPr>
          <p:cNvPr id="9" name="8 Flecha derecha"/>
          <p:cNvSpPr/>
          <p:nvPr/>
        </p:nvSpPr>
        <p:spPr>
          <a:xfrm>
            <a:off x="3490715" y="5229200"/>
            <a:ext cx="865261" cy="72008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3857747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260648"/>
            <a:ext cx="7467600" cy="1143000"/>
          </a:xfrm>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s-E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CONTEO MEDIANTE INDUCCIÓN</a:t>
            </a:r>
            <a:endPar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endParaRPr>
          </a:p>
        </p:txBody>
      </p:sp>
      <p:sp>
        <p:nvSpPr>
          <p:cNvPr id="4" name="3 Rectángulo"/>
          <p:cNvSpPr/>
          <p:nvPr/>
        </p:nvSpPr>
        <p:spPr>
          <a:xfrm>
            <a:off x="971600" y="1916832"/>
            <a:ext cx="7200800" cy="1754326"/>
          </a:xfrm>
          <a:prstGeom prst="rect">
            <a:avLst/>
          </a:prstGeom>
        </p:spPr>
        <p:txBody>
          <a:bodyPr wrap="square">
            <a:spAutoFit/>
          </a:bodyPr>
          <a:lstStyle/>
          <a:p>
            <a:pPr algn="just"/>
            <a:r>
              <a:rPr lang="es-ES" dirty="0" smtClean="0"/>
              <a:t>CONSISTE EN ANALIZAR CASOS PARTICULARES A LA FIGURA DADA (FIGURAS ANÁLOGAS), TRATANDO DE ENCONTRAR UNA LEY DE FORMACIÓN COHERENTE, PARA LUEGO PODER GENERALIZAR (ENCONTRAR LA FÓRMULA).</a:t>
            </a:r>
          </a:p>
          <a:p>
            <a:pPr algn="just"/>
            <a:r>
              <a:rPr lang="es-ES" dirty="0" smtClean="0">
                <a:solidFill>
                  <a:srgbClr val="FF0000"/>
                </a:solidFill>
                <a:latin typeface="Broadway" pitchFamily="82" charset="0"/>
              </a:rPr>
              <a:t>ASÍ POR EJEMPLO: </a:t>
            </a:r>
          </a:p>
          <a:p>
            <a:pPr algn="just"/>
            <a:r>
              <a:rPr lang="es-ES" dirty="0" smtClean="0">
                <a:solidFill>
                  <a:srgbClr val="FF0000"/>
                </a:solidFill>
                <a:latin typeface="Broadway" pitchFamily="82" charset="0"/>
              </a:rPr>
              <a:t>1.	¿CUÁNTOS TRIÁNGULOS HAY EN  LA FIGURA?</a:t>
            </a:r>
            <a:endParaRPr lang="es-ES" dirty="0">
              <a:solidFill>
                <a:srgbClr val="FF0000"/>
              </a:solidFill>
              <a:latin typeface="Broadway" pitchFamily="82" charset="0"/>
            </a:endParaRPr>
          </a:p>
        </p:txBody>
      </p:sp>
      <p:pic>
        <p:nvPicPr>
          <p:cNvPr id="2051" name="Picture 3"/>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599" y="4221088"/>
            <a:ext cx="3096345" cy="183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descr="C:\Users\user\Desktop\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3893632"/>
            <a:ext cx="3024336" cy="2657475"/>
          </a:xfrm>
          <a:prstGeom prst="rect">
            <a:avLst/>
          </a:prstGeom>
          <a:noFill/>
          <a:extLst>
            <a:ext uri="{909E8E84-426E-40DD-AFC4-6F175D3DCCD1}">
              <a14:hiddenFill xmlns:a14="http://schemas.microsoft.com/office/drawing/2010/main">
                <a:solidFill>
                  <a:srgbClr val="FFFFFF"/>
                </a:solidFill>
              </a14:hiddenFill>
            </a:ext>
          </a:extLst>
        </p:spPr>
      </p:pic>
      <p:sp>
        <p:nvSpPr>
          <p:cNvPr id="5" name="4 Flecha derecha"/>
          <p:cNvSpPr/>
          <p:nvPr/>
        </p:nvSpPr>
        <p:spPr>
          <a:xfrm>
            <a:off x="3779912" y="4653136"/>
            <a:ext cx="1152128" cy="86409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398289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631776"/>
            <a:ext cx="7848872" cy="1200329"/>
          </a:xfrm>
          <a:prstGeom prst="rect">
            <a:avLst/>
          </a:prstGeom>
        </p:spPr>
        <p:txBody>
          <a:bodyPr wrap="square">
            <a:spAutoFit/>
          </a:bodyPr>
          <a:lstStyle/>
          <a:p>
            <a:pPr algn="just"/>
            <a:r>
              <a:rPr lang="es-ES" dirty="0" smtClean="0">
                <a:solidFill>
                  <a:srgbClr val="FF0000"/>
                </a:solidFill>
              </a:rPr>
              <a:t>ESTE MÉTODO NOS SIRVE PARA CONTAR TAMBIÉN “SEGMENTOS”; “CUADRILÁTEROS”; “ÁNGULOS AGUDOS”; “SECTORES CIRCULARES”; “HEXÁGONOS”; “TRAPECIOS”; ... ETC.</a:t>
            </a:r>
          </a:p>
          <a:p>
            <a:pPr algn="just"/>
            <a:endParaRPr lang="es-ES" dirty="0">
              <a:solidFill>
                <a:srgbClr val="FF0000"/>
              </a:solidFill>
            </a:endParaRPr>
          </a:p>
        </p:txBody>
      </p:sp>
      <p:pic>
        <p:nvPicPr>
          <p:cNvPr id="3074" name="Picture 2"/>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flipV="1">
            <a:off x="1403648" y="2431847"/>
            <a:ext cx="6588940" cy="32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683568" y="1848376"/>
            <a:ext cx="7848872" cy="369332"/>
          </a:xfrm>
          <a:prstGeom prst="rect">
            <a:avLst/>
          </a:prstGeom>
        </p:spPr>
        <p:txBody>
          <a:bodyPr wrap="square">
            <a:spAutoFit/>
          </a:bodyPr>
          <a:lstStyle/>
          <a:p>
            <a:r>
              <a:rPr lang="es-ES" dirty="0" smtClean="0">
                <a:solidFill>
                  <a:srgbClr val="FF0000"/>
                </a:solidFill>
              </a:rPr>
              <a:t>2.	¿CUÁNTOS SEGMENTOS HAY EN LA FIGURA?</a:t>
            </a:r>
            <a:endParaRPr lang="es-ES" dirty="0">
              <a:solidFill>
                <a:srgbClr val="FF0000"/>
              </a:solidFill>
            </a:endParaRPr>
          </a:p>
        </p:txBody>
      </p:sp>
      <p:pic>
        <p:nvPicPr>
          <p:cNvPr id="3075" name="Picture 3" descr="C:\Users\user\Desktop\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922" y="2924944"/>
            <a:ext cx="3528392" cy="346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02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s-E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TOPOLOGÍA</a:t>
            </a:r>
            <a:endPar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endParaRPr>
          </a:p>
        </p:txBody>
      </p:sp>
      <p:sp>
        <p:nvSpPr>
          <p:cNvPr id="4" name="3 Rectángulo"/>
          <p:cNvSpPr/>
          <p:nvPr/>
        </p:nvSpPr>
        <p:spPr>
          <a:xfrm>
            <a:off x="899592" y="1412776"/>
            <a:ext cx="7344816" cy="4801314"/>
          </a:xfrm>
          <a:prstGeom prst="rect">
            <a:avLst/>
          </a:prstGeom>
        </p:spPr>
        <p:txBody>
          <a:bodyPr wrap="square">
            <a:spAutoFit/>
          </a:bodyPr>
          <a:lstStyle/>
          <a:p>
            <a:pPr algn="just"/>
            <a:r>
              <a:rPr lang="es-ES" dirty="0" smtClean="0"/>
              <a:t>RAMA DE LA MATEMÁTICA QUE ESTUDIA CIERTAS PROPIEDADES DE LAS FIGURAS GEOMÉTRICAS. EL TÉRMINO FUE USADO POR PRIMERA VEZ EN 1930 POR EL MATEMÁTICO SOLOMÓN LEFSCHETZ.  GENERALMENTE HA SIDO. CLASIFICADA DENTRO DE LA GEOMETRÍA, SE LE LLAMA A MENUDO GEOMETRÍA DE LA CINTA ELÁSTICA, DE LA LÁMINA ELÁSTICA O DEL ESPACIO ELÁSTICO, PUES SE PREOCUPA DE AQUELLAS PROPIEDADES DE LAS FIGURAS GEOMÉTRICAS DEL ESPACIO QUE NO VARÍAN CUANDO EL ESPACIO SE DOBLA, DA LA VUELTA, ESTIRA O DEFORMA DE ALGUNA MANERA.  LAS DOS ÚNICAS EXCEPCIONES SON QUE EL ESPACIO NO SE PUEDE ROMPER CREANDO UNA DISCONTINUIDAD Y QUE DOS PUNTOS DISTINTOS NO SE PUEDEN HACER COINCIDIR.  LA GEOMETRÍA SE OCUPA DE PROPIEDADES COMO LA POSICIÓN O DISTANCIA ABSOLUTA Y DE LAS RECTAS PARALELAS, MIENTRAS QUE LA TOPOLOGÍA SÓLO SE OCUPA DE PROPIEDADES COMO LA POSICIÓN RELATIVA Y LA FORMA GENERAL.</a:t>
            </a:r>
            <a:endParaRPr lang="es-ES" dirty="0"/>
          </a:p>
        </p:txBody>
      </p:sp>
    </p:spTree>
    <p:extLst>
      <p:ext uri="{BB962C8B-B14F-4D97-AF65-F5344CB8AC3E}">
        <p14:creationId xmlns:p14="http://schemas.microsoft.com/office/powerpoint/2010/main" val="3171577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019525" y="1196752"/>
            <a:ext cx="7056784" cy="4247317"/>
          </a:xfrm>
          <a:prstGeom prst="rect">
            <a:avLst/>
          </a:prstGeom>
        </p:spPr>
        <p:txBody>
          <a:bodyPr wrap="square">
            <a:spAutoFit/>
          </a:bodyPr>
          <a:lstStyle/>
          <a:p>
            <a:pPr algn="just"/>
            <a:r>
              <a:rPr lang="es-ES" dirty="0" smtClean="0"/>
              <a:t>POR EJEMPLO, UNA CIRCUNFERENCIA DIVIDE AL PLANO QUE LA CONTIENE EN DOS REGIONES, UNA INTERIOR Y OTRA EXTERIOR A LA CIRCUNFERENCIA. UN PUNTO EXTERIOR NO SE PUEDE CONECTAR A UNO INTERIOR CON UNA TRAYECTORIA CONTINUA EN EL PLANO SIN CORTAR A LA CIRCUNFERENCIA. SI SE DEFORMA EL PLANO, ESTE DEJA DE SER UNA SUPERFICIE PLANA O LISA Y LA CIRCUNFERENCIA SE CONVIERTE EN UNA CURVA ARRUGADA, SIN EMBARGO, MANTIENE LA PROPIEDAD DE DIVIDIR A LA SUPERFICIE EN UNA REGIÓN INTERIOR Y OTRA EXTERIOR. ES EVIDENTE QUE LA RECTITUD Y LAS MEDIDAS LINEALES Y ANGULARES SON ALGUNAS DE LAS PROPIEDADES QUE NO SE MANTIENEN SI EL PLANO SE DISTORSIONA.</a:t>
            </a:r>
          </a:p>
          <a:p>
            <a:pPr algn="just"/>
            <a:r>
              <a:rPr lang="es-ES" dirty="0" smtClean="0"/>
              <a:t>	HAY DOS CLASES DE TOPOLOGÍA BIEN DIFERENCIADAS:</a:t>
            </a:r>
            <a:endParaRPr lang="es-ES" dirty="0"/>
          </a:p>
        </p:txBody>
      </p:sp>
    </p:spTree>
    <p:extLst>
      <p:ext uri="{BB962C8B-B14F-4D97-AF65-F5344CB8AC3E}">
        <p14:creationId xmlns:p14="http://schemas.microsoft.com/office/powerpoint/2010/main" val="15948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TOPOLOGÍA PRIMITIVA:</a:t>
            </a:r>
          </a:p>
        </p:txBody>
      </p:sp>
      <p:sp>
        <p:nvSpPr>
          <p:cNvPr id="4" name="3 Rectángulo"/>
          <p:cNvSpPr/>
          <p:nvPr/>
        </p:nvSpPr>
        <p:spPr>
          <a:xfrm>
            <a:off x="683568" y="1628800"/>
            <a:ext cx="7632848" cy="2308324"/>
          </a:xfrm>
          <a:prstGeom prst="rect">
            <a:avLst/>
          </a:prstGeom>
        </p:spPr>
        <p:txBody>
          <a:bodyPr wrap="square">
            <a:spAutoFit/>
          </a:bodyPr>
          <a:lstStyle/>
          <a:p>
            <a:pPr algn="just"/>
            <a:r>
              <a:rPr lang="es-ES" dirty="0" smtClean="0"/>
              <a:t>UN EJEMPLO DE TOPOLOGÍA PRIMITIVA ES EL PROBLEMA DE LOS PUENTES DE KÖNIGSBERG.</a:t>
            </a:r>
          </a:p>
          <a:p>
            <a:pPr algn="just"/>
            <a:r>
              <a:rPr lang="es-ES" dirty="0" smtClean="0"/>
              <a:t>*	LOS PUENTES DE KÖNIGSBERG.-</a:t>
            </a:r>
          </a:p>
          <a:p>
            <a:pPr algn="just"/>
            <a:r>
              <a:rPr lang="es-ES" dirty="0" smtClean="0"/>
              <a:t>	LOS HABITANTES DE LA CIUDAD DE KÖNIGSBERG SE PREGUNTABAN TODOS LOS DOMINGOS CUANDO IBAN A MISA SI: ¿ES POSIBLE CRUZAR LOS SIETE PUENTES SOBRE EL RÍO PREGEL, QUE CONECTAN LAS DOS ISLAS Y LAS ORILLAS, SIN CRUZAR DOS VECES EL MISMO PUENTE?</a:t>
            </a:r>
            <a:endParaRPr lang="es-ES" dirty="0"/>
          </a:p>
        </p:txBody>
      </p:sp>
      <p:pic>
        <p:nvPicPr>
          <p:cNvPr id="4098" name="Picture 2"/>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2556386" y="4221088"/>
            <a:ext cx="3887212"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6538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916182" y="1104911"/>
            <a:ext cx="7344816" cy="1477328"/>
          </a:xfrm>
          <a:prstGeom prst="rect">
            <a:avLst/>
          </a:prstGeom>
        </p:spPr>
        <p:txBody>
          <a:bodyPr wrap="square">
            <a:spAutoFit/>
          </a:bodyPr>
          <a:lstStyle/>
          <a:p>
            <a:pPr algn="just"/>
            <a:r>
              <a:rPr lang="es-ES" dirty="0" smtClean="0"/>
              <a:t>EL MATEMÁTICO SUIZO LEONARD EULER  DEMOSTRÓ QUE ESTE PROBLEMA ES EQUIVALENTE AL SIGUIENTE: ¿ES POSIBLE DIBUJAR EL GRÁFICO SIGUIENTE SIN LEVANTAR EL LÁPIZ DEL PAPEL Y SIN PASAR DOS VECES POR LA MISMA LÍNEA?</a:t>
            </a:r>
            <a:endParaRPr lang="es-ES" dirty="0"/>
          </a:p>
        </p:txBody>
      </p:sp>
      <p:pic>
        <p:nvPicPr>
          <p:cNvPr id="5122" name="Picture 2"/>
          <p:cNvPicPr>
            <a:picLocks noChangeAspect="1" noChangeArrowheads="1"/>
          </p:cNvPicPr>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1443189" y="3040083"/>
            <a:ext cx="2016224" cy="2199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3746617" y="2708920"/>
            <a:ext cx="4572000" cy="2862322"/>
          </a:xfrm>
          <a:prstGeom prst="rect">
            <a:avLst/>
          </a:prstGeom>
        </p:spPr>
        <p:txBody>
          <a:bodyPr>
            <a:spAutoFit/>
          </a:bodyPr>
          <a:lstStyle/>
          <a:p>
            <a:pPr algn="just"/>
            <a:r>
              <a:rPr lang="es-ES" dirty="0" smtClean="0"/>
              <a:t>EULER DEMOSTRÓ DE FORMA GENERAL QUE PARA CUALQUIER DIBUJO LINEAL, COMO EL DE LA FIGURA ANTERIOR, SE PUEDE DIBUJAR UNA LÍNEA CONTINUA SIN REPETIR NINGÚN TRAZO SI Y SÓLO SI EL GRÁFICO NO TIENE NINGÚN VÉRTICE IMPAR O TIENE EXACTAMENTE DOS VÉRTICES IMPARES.</a:t>
            </a:r>
            <a:endParaRPr lang="es-ES" dirty="0"/>
          </a:p>
        </p:txBody>
      </p:sp>
    </p:spTree>
    <p:extLst>
      <p:ext uri="{BB962C8B-B14F-4D97-AF65-F5344CB8AC3E}">
        <p14:creationId xmlns:p14="http://schemas.microsoft.com/office/powerpoint/2010/main" val="4135606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5146" y="404664"/>
            <a:ext cx="7467600" cy="1143000"/>
          </a:xfrm>
        </p:spPr>
        <p:txBody>
          <a:bodyPr>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TOPOLOGÍA ACTUAL:</a:t>
            </a:r>
          </a:p>
        </p:txBody>
      </p:sp>
      <p:sp>
        <p:nvSpPr>
          <p:cNvPr id="4" name="3 Rectángulo"/>
          <p:cNvSpPr/>
          <p:nvPr/>
        </p:nvSpPr>
        <p:spPr>
          <a:xfrm>
            <a:off x="916538" y="1628800"/>
            <a:ext cx="7344816" cy="4247317"/>
          </a:xfrm>
          <a:prstGeom prst="rect">
            <a:avLst/>
          </a:prstGeom>
        </p:spPr>
        <p:txBody>
          <a:bodyPr wrap="square">
            <a:spAutoFit/>
          </a:bodyPr>
          <a:lstStyle/>
          <a:p>
            <a:pPr algn="just"/>
            <a:r>
              <a:rPr lang="es-ES" dirty="0" smtClean="0"/>
              <a:t>LA TOPOLOGÍA ES UN CAMPO MUY ACTIVO DE LAS MATEMÁTICAS MODERNAS.  UN PROBLEMA FAMOSO DE LA TOPOLOGÍA, QUE SÓLO HA SIDO RESUELTO RECIENTEMENTE, ES EL DETERMINAR EL NÚMERO MÍNIMO DE COLORES DISTINTOS NECESARIOS PARA COLOREAR UN MAPA CORRIENTE DE MANERA QUE NO EXISTAN DOS REGIONES LIMÍTROFES CON EL MISMO COLOR.  EN 1976, KENNETH APPEL Y WOLFGANG HAKEN DEMOSTRARON, USANDO UN ORDENADOR, QUE ES SUFICIENTE CON CUATRO COLORES, SIN DEPENDER DEL TAMAÑO O DEL NÚMERO DE REGIONES.</a:t>
            </a:r>
          </a:p>
          <a:p>
            <a:pPr algn="just"/>
            <a:r>
              <a:rPr lang="es-ES" dirty="0" smtClean="0"/>
              <a:t>	LA TEORÍA DE NUDOS ES UNA RAMA DE LA TOPOLOGÍA QUE TIENE TODAVÍA MUCHOS PROBLEMAS POR RESOLVER.  UN NUDO SE PUEDE CONSIDERAR COMO UNA CURVA CERRADA SENCILLA, HECHA DE GOMA Y QUE SE PUEDE RETORCER, </a:t>
            </a:r>
            <a:endParaRPr lang="es-ES" dirty="0"/>
          </a:p>
        </p:txBody>
      </p:sp>
    </p:spTree>
    <p:extLst>
      <p:ext uri="{BB962C8B-B14F-4D97-AF65-F5344CB8AC3E}">
        <p14:creationId xmlns:p14="http://schemas.microsoft.com/office/powerpoint/2010/main" val="1319940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99592" y="692696"/>
            <a:ext cx="7200800" cy="5355312"/>
          </a:xfrm>
          <a:prstGeom prst="rect">
            <a:avLst/>
          </a:prstGeom>
        </p:spPr>
        <p:txBody>
          <a:bodyPr wrap="square">
            <a:spAutoFit/>
          </a:bodyPr>
          <a:lstStyle/>
          <a:p>
            <a:pPr algn="just"/>
            <a:r>
              <a:rPr lang="es-ES" dirty="0" smtClean="0"/>
              <a:t>ALARGAR O DEFORMAR DE CUALQUIER FORMA EN UN ESPACIO TRIDIMENSIONAL, AUNQUE NO SE PUEDE ROMPER.  DOS NUDOS SON EQUIVALENTES SI SE PUEDE DEFORMAR UNO DE ELLOS PARA DAR EL OTRO, SI ESTO NO ES POSIBLE, LOS NUDOS SON DISTINTOS.  TODAVÍA NO SE HA PODIDO ENCONTRAR UN CONJUNTO COMPLETO DE CARACTERÍSTICAS SUFICIENTE PARA DISTINGUIR LOS DISTINTOS TIPOS DE NUDOS.</a:t>
            </a:r>
          </a:p>
          <a:p>
            <a:pPr algn="just"/>
            <a:r>
              <a:rPr lang="es-ES" dirty="0" smtClean="0"/>
              <a:t>	DOS FIGURAS GEOMÉTRICAS, O CONJUNTOS DE PUNTOS, SON ISOMÓRFICAS SI EXISTE UNA CORRESPONDENCIA DE PUNTO A PUNTO ENTRE ELLAS QUE ES CONTINUA EN AMBAS DIRECCIONES.  EL PROBLEMA FUNDAMENTAL DE LA TOPOLOGÍA, AÚN POR RESOLVER, EXCEPTO EN ALGUNOS CASOS PARTICULARES, ES ENCONTRAR UN CONJUNTO DE CARACTERÍSTICAS SUFICIENTE PARA IDENTIFICAR FIGURAS ISOMÓRFICAS, ES DECIR, UN CONJUNTO DE CARACTERÍSTICAS QUE PERMITA DETERMINAR SI DOS FIGURAS GEOMÉTRICAS DADAS, O CONJUNTOS DE PUNTOS, SON ISOMÓRFICAS.</a:t>
            </a:r>
            <a:endParaRPr lang="es-ES" dirty="0"/>
          </a:p>
        </p:txBody>
      </p:sp>
    </p:spTree>
    <p:extLst>
      <p:ext uri="{BB962C8B-B14F-4D97-AF65-F5344CB8AC3E}">
        <p14:creationId xmlns:p14="http://schemas.microsoft.com/office/powerpoint/2010/main" val="181275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83359" y="620688"/>
            <a:ext cx="7467600" cy="1143000"/>
          </a:xfrm>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TRAYECTORIAS (CAMINOS) Y CIRCUITOS DE EULER</a:t>
            </a:r>
          </a:p>
        </p:txBody>
      </p:sp>
      <p:sp>
        <p:nvSpPr>
          <p:cNvPr id="4" name="3 Rectángulo"/>
          <p:cNvSpPr/>
          <p:nvPr/>
        </p:nvSpPr>
        <p:spPr>
          <a:xfrm>
            <a:off x="899592" y="2132856"/>
            <a:ext cx="7560840" cy="3416320"/>
          </a:xfrm>
          <a:prstGeom prst="rect">
            <a:avLst/>
          </a:prstGeom>
        </p:spPr>
        <p:txBody>
          <a:bodyPr wrap="square">
            <a:spAutoFit/>
          </a:bodyPr>
          <a:lstStyle/>
          <a:p>
            <a:pPr algn="just"/>
            <a:r>
              <a:rPr lang="es-ES" dirty="0" smtClean="0"/>
              <a:t>EN ESTA SECCIÓN, SE ANALIZARÁ UNA CLASE AMPLIA DE PROBLEMAS EN LOS CUALES SE UTILIZA LA TEORÍA DE GRÁFICAS.  EN EL PRIMER TIPO DE PROBLEMA, LA TAREA ES RECORRER UNA TRAYECTORIA UTILIZANDO CADA ARISTA DE LA GRÁFICA SÓLO UNA VEZ.  PUEDE SER NECESARIO O NO COMENZAR Y TERMINAR EN EL MISMO VÉRTICE.  UN EJEMPLO SENCILLO DE ESTO ES EL PROBLEMA COMÚN DE TRAZAR UNA FIGURA GEOMÉTRICA SIN LEVANTAR EL LÁPIZ DEL PAPEL.</a:t>
            </a:r>
          </a:p>
          <a:p>
            <a:pPr algn="just"/>
            <a:r>
              <a:rPr lang="es-ES" dirty="0" smtClean="0"/>
              <a:t>	UNA TRAYECTORIA EN UNA GRÁFICA G ES UNA TRAYECTORIA  DE EULER SI INCLUYE A CADA UNA DE LAS ARISTAS SÓLO UNA VEZ. UN CIRCUITO DE EULER ES UNA TRAYECTORIA DE EULER QUE ES A LA VEZ UN CIRCUITO.</a:t>
            </a:r>
            <a:endParaRPr lang="es-ES" dirty="0"/>
          </a:p>
        </p:txBody>
      </p:sp>
    </p:spTree>
    <p:extLst>
      <p:ext uri="{BB962C8B-B14F-4D97-AF65-F5344CB8AC3E}">
        <p14:creationId xmlns:p14="http://schemas.microsoft.com/office/powerpoint/2010/main" val="67482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71600" y="260648"/>
            <a:ext cx="7467600" cy="1143000"/>
          </a:xfrm>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TEOREMA DEL RECORRIDO </a:t>
            </a:r>
            <a:r>
              <a:rPr lang="es-E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rPr>
              <a:t>MÍNIMO</a:t>
            </a:r>
            <a:endParaRPr lang="es-E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roadway" pitchFamily="82" charset="0"/>
            </a:endParaRPr>
          </a:p>
        </p:txBody>
      </p:sp>
      <p:sp>
        <p:nvSpPr>
          <p:cNvPr id="4" name="3 Rectángulo"/>
          <p:cNvSpPr/>
          <p:nvPr/>
        </p:nvSpPr>
        <p:spPr>
          <a:xfrm>
            <a:off x="1187624" y="1628800"/>
            <a:ext cx="7128792" cy="1477328"/>
          </a:xfrm>
          <a:prstGeom prst="rect">
            <a:avLst/>
          </a:prstGeom>
        </p:spPr>
        <p:txBody>
          <a:bodyPr wrap="square">
            <a:spAutoFit/>
          </a:bodyPr>
          <a:lstStyle/>
          <a:p>
            <a:pPr algn="just"/>
            <a:r>
              <a:rPr lang="es-ES" dirty="0" smtClean="0"/>
              <a:t>SI UNA GRÁFICA NO ADMITE UN CAMINO EULERIANO (TIENE MÁS DE 2 PUNTOS IMPARES) ENTONCES AL RECORRERLA EL NÚMERO MÍNIMO DE LADOS QUE SE REPITEN ESTÁ DADO POR LA FÓRMULA:</a:t>
            </a:r>
          </a:p>
          <a:p>
            <a:pPr algn="just"/>
            <a:endParaRPr lang="es-E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587" y="2708921"/>
            <a:ext cx="4182771"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2123728" y="3573017"/>
            <a:ext cx="4983654" cy="646331"/>
          </a:xfrm>
          <a:prstGeom prst="rect">
            <a:avLst/>
          </a:prstGeom>
        </p:spPr>
        <p:txBody>
          <a:bodyPr wrap="squar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s-ES" b="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COLORACIÓN DE MAPAS</a:t>
            </a:r>
          </a:p>
          <a:p>
            <a:pPr algn="ctr"/>
            <a:r>
              <a:rPr lang="es-ES" b="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(Número Cromático)</a:t>
            </a:r>
          </a:p>
        </p:txBody>
      </p:sp>
      <p:sp>
        <p:nvSpPr>
          <p:cNvPr id="6" name="5 Rectángulo"/>
          <p:cNvSpPr/>
          <p:nvPr/>
        </p:nvSpPr>
        <p:spPr>
          <a:xfrm>
            <a:off x="1235576" y="4218847"/>
            <a:ext cx="7128792" cy="1200329"/>
          </a:xfrm>
          <a:prstGeom prst="rect">
            <a:avLst/>
          </a:prstGeom>
        </p:spPr>
        <p:txBody>
          <a:bodyPr wrap="square">
            <a:spAutoFit/>
          </a:bodyPr>
          <a:lstStyle/>
          <a:p>
            <a:pPr algn="just"/>
            <a:r>
              <a:rPr lang="es-ES" dirty="0" smtClean="0"/>
              <a:t>ES EL MENOR NÚMERO DE COLORES NECESARIOS PARA COLOREAR CUALQUIER MAPA CON LA CONDICIÓN DE  QUE 2 PAÍSES FRONTERIZOS ESTÉN PINTADOS DE COLORES DIFERENTES. EJEMPLO:</a:t>
            </a:r>
            <a:endParaRPr lang="es-ES" dirty="0"/>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988" y="5413768"/>
            <a:ext cx="2498063" cy="1067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6192603"/>
      </p:ext>
    </p:extLst>
  </p:cSld>
  <p:clrMapOvr>
    <a:masterClrMapping/>
  </p:clrMapOvr>
</p:sld>
</file>

<file path=ppt/theme/theme1.xml><?xml version="1.0" encoding="utf-8"?>
<a:theme xmlns:a="http://schemas.openxmlformats.org/drawingml/2006/main" name="Técnico">
  <a:themeElements>
    <a:clrScheme name="Técnico">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écnico">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écnico">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38</TotalTime>
  <Words>858</Words>
  <Application>Microsoft Office PowerPoint</Application>
  <PresentationFormat>Presentación en pantalla (4:3)</PresentationFormat>
  <Paragraphs>39</Paragraphs>
  <Slides>12</Slides>
  <Notes>1</Notes>
  <HiddenSlides>0</HiddenSlides>
  <MMClips>0</MMClips>
  <ScaleCrop>false</ScaleCrop>
  <HeadingPairs>
    <vt:vector size="4" baseType="variant">
      <vt:variant>
        <vt:lpstr>Tema</vt:lpstr>
      </vt:variant>
      <vt:variant>
        <vt:i4>1</vt:i4>
      </vt:variant>
      <vt:variant>
        <vt:lpstr>Títulos de diapositiva</vt:lpstr>
      </vt:variant>
      <vt:variant>
        <vt:i4>12</vt:i4>
      </vt:variant>
    </vt:vector>
  </HeadingPairs>
  <TitlesOfParts>
    <vt:vector size="13" baseType="lpstr">
      <vt:lpstr>Técnico</vt:lpstr>
      <vt:lpstr>TOPOLOGÍA, CONTEO DE FIGURAS</vt:lpstr>
      <vt:lpstr>MÉTODOS  DE  CONTEO</vt:lpstr>
      <vt:lpstr>CONTEO MEDIANTE INDUCCIÓN</vt:lpstr>
      <vt:lpstr>Presentación de PowerPoint</vt:lpstr>
      <vt:lpstr>TOPOLOGÍA</vt:lpstr>
      <vt:lpstr>Presentación de PowerPoint</vt:lpstr>
      <vt:lpstr>TOPOLOGÍA PRIMITIVA:</vt:lpstr>
      <vt:lpstr>Presentación de PowerPoint</vt:lpstr>
      <vt:lpstr>TOPOLOGÍA ACTUAL:</vt:lpstr>
      <vt:lpstr>Presentación de PowerPoint</vt:lpstr>
      <vt:lpstr>TRAYECTORIAS (CAMINOS) Y CIRCUITOS DE EULER</vt:lpstr>
      <vt:lpstr>TEOREMA DEL RECORRIDO MÍNIMO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CONTEO DE FIGURAS</dc:title>
  <dc:creator>user</dc:creator>
  <cp:lastModifiedBy>user</cp:lastModifiedBy>
  <cp:revision>5</cp:revision>
  <dcterms:created xsi:type="dcterms:W3CDTF">2020-06-18T17:04:13Z</dcterms:created>
  <dcterms:modified xsi:type="dcterms:W3CDTF">2020-06-18T19:08:25Z</dcterms:modified>
</cp:coreProperties>
</file>